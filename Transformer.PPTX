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50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89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77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27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77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39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4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17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76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50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62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05A88B-19DE-4C95-9AE6-9A4E78E615E5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3971F1-06C2-4FDE-8B52-8EEC6DB580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13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45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2C13C-6908-1998-021A-C9D46AB9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Lucida Grande"/>
              </a:rPr>
              <a:t>Attention Is All You Need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5B5AD5-9CE9-EA8E-E816-FDDA9DE698ED}"/>
              </a:ext>
            </a:extLst>
          </p:cNvPr>
          <p:cNvSpPr txBox="1"/>
          <p:nvPr/>
        </p:nvSpPr>
        <p:spPr>
          <a:xfrm>
            <a:off x="1097280" y="2001520"/>
            <a:ext cx="423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原论文：</a:t>
            </a:r>
            <a:r>
              <a:rPr lang="en-US" altLang="zh-CN" dirty="0"/>
              <a:t>https://arxiv.org/abs/1706.03762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391E5E-82E6-2691-8CFB-A2192CBEA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10654" y="2001520"/>
            <a:ext cx="4726305" cy="415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3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4DFD8-56FA-095F-A7C7-92E5C5DB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/>
              <a:t>Transformer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D06E07-3A49-7D16-2661-9CAF622EAC28}"/>
              </a:ext>
            </a:extLst>
          </p:cNvPr>
          <p:cNvSpPr txBox="1"/>
          <p:nvPr/>
        </p:nvSpPr>
        <p:spPr>
          <a:xfrm>
            <a:off x="1097280" y="1940560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作用：一般用于机器翻译。比如中文转英文等等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893A85-10E8-4F6A-0524-1B4731A9D782}"/>
              </a:ext>
            </a:extLst>
          </p:cNvPr>
          <p:cNvSpPr txBox="1"/>
          <p:nvPr/>
        </p:nvSpPr>
        <p:spPr>
          <a:xfrm>
            <a:off x="4734088" y="242824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我</a:t>
            </a:r>
            <a:r>
              <a:rPr lang="en-US" altLang="zh-CN" b="1" dirty="0"/>
              <a:t>	</a:t>
            </a:r>
            <a:r>
              <a:rPr lang="zh-CN" altLang="en-US" b="1" dirty="0"/>
              <a:t>不</a:t>
            </a:r>
            <a:r>
              <a:rPr lang="en-US" altLang="zh-CN" b="1" dirty="0"/>
              <a:t>	</a:t>
            </a:r>
            <a:r>
              <a:rPr lang="zh-CN" altLang="en-US" b="1" dirty="0"/>
              <a:t>是</a:t>
            </a:r>
            <a:r>
              <a:rPr lang="en-US" altLang="zh-CN" b="1" dirty="0"/>
              <a:t>	</a:t>
            </a:r>
            <a:r>
              <a:rPr lang="zh-CN" altLang="en-US" b="1" dirty="0"/>
              <a:t>小</a:t>
            </a:r>
            <a:r>
              <a:rPr lang="en-US" altLang="zh-CN" b="1" dirty="0"/>
              <a:t>	</a:t>
            </a:r>
            <a:r>
              <a:rPr lang="zh-CN" altLang="en-US" b="1" dirty="0"/>
              <a:t>黑</a:t>
            </a:r>
            <a:r>
              <a:rPr lang="en-US" altLang="zh-CN" b="1" dirty="0"/>
              <a:t>	</a:t>
            </a:r>
            <a:r>
              <a:rPr lang="zh-CN" altLang="en-US" b="1" dirty="0"/>
              <a:t>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5E5358-61A1-C6B6-EA45-0E7768A510C6}"/>
              </a:ext>
            </a:extLst>
          </p:cNvPr>
          <p:cNvSpPr txBox="1"/>
          <p:nvPr/>
        </p:nvSpPr>
        <p:spPr>
          <a:xfrm>
            <a:off x="5314375" y="345289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I'm not Blackie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066E7D8-AA39-BA8E-8A8A-AB35089E437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6095999" y="2797572"/>
            <a:ext cx="1" cy="6553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9B60729-0113-CD26-D47F-0EF954727375}"/>
              </a:ext>
            </a:extLst>
          </p:cNvPr>
          <p:cNvSpPr txBox="1"/>
          <p:nvPr/>
        </p:nvSpPr>
        <p:spPr>
          <a:xfrm>
            <a:off x="1097280" y="406042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做法：构造编码器和解码器</a:t>
            </a:r>
          </a:p>
        </p:txBody>
      </p:sp>
    </p:spTree>
    <p:extLst>
      <p:ext uri="{BB962C8B-B14F-4D97-AF65-F5344CB8AC3E}">
        <p14:creationId xmlns:p14="http://schemas.microsoft.com/office/powerpoint/2010/main" val="146061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5B7A7-69E3-4489-0E8C-AFF09CC9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网络架构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39C3B2-9FEA-782B-62B1-7C9961D44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左边：编码器</a:t>
            </a:r>
            <a:endParaRPr lang="en-US" altLang="zh-CN" dirty="0"/>
          </a:p>
          <a:p>
            <a:r>
              <a:rPr lang="zh-CN" altLang="en-US" dirty="0"/>
              <a:t>右边：解码器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编码器输入：待翻译句子</a:t>
            </a:r>
            <a:endParaRPr lang="en-US" altLang="zh-CN" dirty="0"/>
          </a:p>
          <a:p>
            <a:r>
              <a:rPr lang="zh-CN" altLang="en-US" dirty="0"/>
              <a:t>解码器输入：目标句子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编码器输出：待翻译句子的编码向量</a:t>
            </a:r>
            <a:endParaRPr lang="en-US" altLang="zh-CN" dirty="0"/>
          </a:p>
          <a:p>
            <a:r>
              <a:rPr lang="zh-CN" altLang="en-US" dirty="0"/>
              <a:t>解码器输出：每一个字对应的概率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9A0C96-7D3C-88B0-2AC5-4BD6BF98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6082" y="0"/>
            <a:ext cx="4338320" cy="60796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722F0C1-F0A2-6182-B1D9-7372757F5B94}"/>
              </a:ext>
            </a:extLst>
          </p:cNvPr>
          <p:cNvSpPr txBox="1"/>
          <p:nvPr/>
        </p:nvSpPr>
        <p:spPr>
          <a:xfrm>
            <a:off x="4734622" y="59849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我不是小黑子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263CAF-E4C9-F93B-3B8D-EDB3E5534F5C}"/>
              </a:ext>
            </a:extLst>
          </p:cNvPr>
          <p:cNvSpPr txBox="1"/>
          <p:nvPr/>
        </p:nvSpPr>
        <p:spPr>
          <a:xfrm>
            <a:off x="6365242" y="5984919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I'm not Blackie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6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9D7E0-BD46-3A74-EE28-C263D335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注意力机制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E45683-7890-03BF-682B-7F080E186980}"/>
              </a:ext>
            </a:extLst>
          </p:cNvPr>
          <p:cNvSpPr txBox="1"/>
          <p:nvPr/>
        </p:nvSpPr>
        <p:spPr>
          <a:xfrm>
            <a:off x="1097280" y="2308892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 爱 你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291EF20-5B84-1BF9-21DD-118440BDD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906" y="2256520"/>
            <a:ext cx="1124107" cy="45726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353C0E-291A-F066-FC10-1964D1D0A3A5}"/>
              </a:ext>
            </a:extLst>
          </p:cNvPr>
          <p:cNvSpPr txBox="1"/>
          <p:nvPr/>
        </p:nvSpPr>
        <p:spPr>
          <a:xfrm>
            <a:off x="1097280" y="1887188"/>
            <a:ext cx="1126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原因：字与字之间是存在关系的，因此要计算字与字之间的关系强度（什么字相对重要，什么字没那么重要）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D4C2FA5-E2D9-19A3-2D82-A4757A9FE071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369120" y="2711826"/>
            <a:ext cx="1004949" cy="3817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58C5575-5065-5CE5-73F8-AFEB272F8590}"/>
              </a:ext>
            </a:extLst>
          </p:cNvPr>
          <p:cNvCxnSpPr>
            <a:cxnSpLocks/>
            <a:endCxn id="97" idx="1"/>
          </p:cNvCxnSpPr>
          <p:nvPr/>
        </p:nvCxnSpPr>
        <p:spPr>
          <a:xfrm flipV="1">
            <a:off x="2369120" y="3071583"/>
            <a:ext cx="1061586" cy="115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0434B84-660B-E94A-A9D3-9394A57BDAD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369120" y="3093571"/>
            <a:ext cx="1004949" cy="3493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3B5A3FD5-ACB5-F856-7AA2-4A47026F0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687" y="2538848"/>
            <a:ext cx="990738" cy="1047896"/>
          </a:xfrm>
          <a:prstGeom prst="rect">
            <a:avLst/>
          </a:prstGeom>
        </p:spPr>
      </p:pic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C98F6E3-9331-BABE-6048-7D9CF8540001}"/>
              </a:ext>
            </a:extLst>
          </p:cNvPr>
          <p:cNvCxnSpPr>
            <a:cxnSpLocks/>
            <a:stCxn id="97" idx="3"/>
            <a:endCxn id="44" idx="1"/>
          </p:cNvCxnSpPr>
          <p:nvPr/>
        </p:nvCxnSpPr>
        <p:spPr>
          <a:xfrm flipV="1">
            <a:off x="4716760" y="3062796"/>
            <a:ext cx="840927" cy="87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F740539-5423-AA83-3C05-4FE96EC6F5B4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307124" y="3900374"/>
            <a:ext cx="1094678" cy="435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9845ED1-08C3-94A6-A4F9-18DAC7CDC43D}"/>
              </a:ext>
            </a:extLst>
          </p:cNvPr>
          <p:cNvCxnSpPr>
            <a:cxnSpLocks/>
            <a:stCxn id="18" idx="3"/>
            <a:endCxn id="100" idx="1"/>
          </p:cNvCxnSpPr>
          <p:nvPr/>
        </p:nvCxnSpPr>
        <p:spPr>
          <a:xfrm flipV="1">
            <a:off x="2307124" y="4302743"/>
            <a:ext cx="1094678" cy="326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0998B682-B8C7-99DF-A457-C037618388C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307124" y="4335402"/>
            <a:ext cx="1094678" cy="3075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29A2452-846C-55D7-9AAD-61459D46E05C}"/>
              </a:ext>
            </a:extLst>
          </p:cNvPr>
          <p:cNvCxnSpPr>
            <a:cxnSpLocks/>
            <a:stCxn id="100" idx="3"/>
            <a:endCxn id="62" idx="1"/>
          </p:cNvCxnSpPr>
          <p:nvPr/>
        </p:nvCxnSpPr>
        <p:spPr>
          <a:xfrm flipV="1">
            <a:off x="4687856" y="4291984"/>
            <a:ext cx="869831" cy="107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>
            <a:extLst>
              <a:ext uri="{FF2B5EF4-FFF2-40B4-BE49-F238E27FC236}">
                <a16:creationId xmlns:a16="http://schemas.microsoft.com/office/drawing/2014/main" id="{5394F86C-E6B8-FD01-CAED-467A73CB6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687" y="3748983"/>
            <a:ext cx="990738" cy="1086002"/>
          </a:xfrm>
          <a:prstGeom prst="rect">
            <a:avLst/>
          </a:prstGeom>
        </p:spPr>
      </p:pic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70D5326A-EABB-0FB7-31EE-D6D27F213A80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388173" y="5193690"/>
            <a:ext cx="943239" cy="3788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33CB2D8-2D51-DF4A-B612-6BAB35E3B220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2369120" y="5520637"/>
            <a:ext cx="1080314" cy="519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AB76213-AAF5-52FA-64E0-8593C2659B7B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388173" y="5572559"/>
            <a:ext cx="943239" cy="2810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0007D618-F6BE-5569-8C33-9CC4F392ED67}"/>
              </a:ext>
            </a:extLst>
          </p:cNvPr>
          <p:cNvCxnSpPr>
            <a:cxnSpLocks/>
            <a:stCxn id="103" idx="3"/>
            <a:endCxn id="79" idx="1"/>
          </p:cNvCxnSpPr>
          <p:nvPr/>
        </p:nvCxnSpPr>
        <p:spPr>
          <a:xfrm flipV="1">
            <a:off x="4735488" y="5520636"/>
            <a:ext cx="83958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图片 78">
            <a:extLst>
              <a:ext uri="{FF2B5EF4-FFF2-40B4-BE49-F238E27FC236}">
                <a16:creationId xmlns:a16="http://schemas.microsoft.com/office/drawing/2014/main" id="{E3DD1C2C-B528-254F-84E7-04794DE9C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069" y="5034793"/>
            <a:ext cx="981212" cy="971686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F7C28F7F-6EE9-A486-26AA-5CF0F4D9B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706" y="2452371"/>
            <a:ext cx="1286054" cy="1238423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EEC8677F-5E14-4CFD-06FD-15DF63FCE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802" y="3683531"/>
            <a:ext cx="1286054" cy="1238423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8C735F80-206E-6EA5-1F68-3A49A1185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434" y="4901425"/>
            <a:ext cx="1286054" cy="1238423"/>
          </a:xfrm>
          <a:prstGeom prst="rect">
            <a:avLst/>
          </a:prstGeom>
        </p:spPr>
      </p:pic>
      <p:pic>
        <p:nvPicPr>
          <p:cNvPr id="129" name="图片 128">
            <a:extLst>
              <a:ext uri="{FF2B5EF4-FFF2-40B4-BE49-F238E27FC236}">
                <a16:creationId xmlns:a16="http://schemas.microsoft.com/office/drawing/2014/main" id="{239FF7E8-03D9-CB0A-013A-BC694D1117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42" y="2311483"/>
            <a:ext cx="4248743" cy="1219370"/>
          </a:xfrm>
          <a:prstGeom prst="rect">
            <a:avLst/>
          </a:prstGeom>
        </p:spPr>
      </p:pic>
      <p:pic>
        <p:nvPicPr>
          <p:cNvPr id="131" name="图片 130">
            <a:extLst>
              <a:ext uri="{FF2B5EF4-FFF2-40B4-BE49-F238E27FC236}">
                <a16:creationId xmlns:a16="http://schemas.microsoft.com/office/drawing/2014/main" id="{3AC548F5-14EC-5A16-2EF2-482C501F47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4146" y="3586037"/>
            <a:ext cx="4248743" cy="1076475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7D518236-A4EC-F39D-1CCA-ED846B0A00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4979" y="5032805"/>
            <a:ext cx="4937021" cy="9573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3720A7F-5D74-E446-25CA-FED742F32F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9750" y="2879228"/>
            <a:ext cx="1219370" cy="4286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A9CB77F-2F0F-1A31-58EF-5A77171108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171" y="5386795"/>
            <a:ext cx="1267002" cy="37152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48C7CE3-DB4F-C17F-320B-8F3655EB55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175" y="4087717"/>
            <a:ext cx="124794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6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219709-B8CB-A5E9-6EFA-2EF01595F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8240368" cy="3251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1084B49-EE9D-7423-B1DD-EDCED67BD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251201"/>
            <a:ext cx="5865837" cy="87880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3EF6F22-88EA-9307-AEFD-D28EDD94B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60381"/>
            <a:ext cx="3436623" cy="87165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3507DA-29B8-2CE3-F4D3-2FD18DB82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97465"/>
            <a:ext cx="2581635" cy="50489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6138D4E-A6A5-6975-ECA1-1312BFAD44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1998" y="5116865"/>
            <a:ext cx="3496163" cy="120984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2E402784-D27D-417A-E0FD-FAE7F4524F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24" y="5116865"/>
            <a:ext cx="3572374" cy="118126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497D860-3FFA-DADE-59AA-B185B45BE1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261" y="5109748"/>
            <a:ext cx="1352739" cy="121937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6B015BCD-A54E-C4A5-14E2-7FB72D81AF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9887" y="3912670"/>
            <a:ext cx="4067743" cy="6954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CF1C0A8-2E64-3C63-0814-75B595A84F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4713" y="318055"/>
            <a:ext cx="2050543" cy="8716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23813D7-CDC5-958F-16BB-C34D9618DC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6216" y="528882"/>
            <a:ext cx="1076475" cy="4096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270A28-8C95-7731-2AE2-1AFA719B51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238061"/>
            <a:ext cx="3172268" cy="85737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BAB57DC-7824-41A4-305F-D98384FBBD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3758" y="1189714"/>
            <a:ext cx="1800476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0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E70CB-EBA9-47A4-19F3-04599596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多头自注意力机制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56CCF5-D233-A21B-CBC6-F69E9FC82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629" y="2486048"/>
            <a:ext cx="2915057" cy="36866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6136781-6B12-724A-5DEE-D9640B1E8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287" y="1763993"/>
            <a:ext cx="4067743" cy="695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755668-A293-C73D-D207-7E4119C08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344" y="1861761"/>
            <a:ext cx="5706271" cy="8383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012399-AD54-B356-1E62-53EF4748A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16" y="2824479"/>
            <a:ext cx="2444622" cy="347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2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47B93B-5633-AA29-F6DD-862A2A311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90"/>
            <a:ext cx="4067743" cy="24387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7EC7DF-D4BD-833C-30A7-AEECC9B0B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42" y="3082577"/>
            <a:ext cx="2581635" cy="4286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8FE227-66B4-3C46-6907-71F3BF1F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377" y="3065088"/>
            <a:ext cx="1324160" cy="4096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B078033-DC0F-EC20-0EC5-D6F688F4C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00" y="3528751"/>
            <a:ext cx="3858163" cy="73352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7011669-4146-64FA-C00B-C760E8CD31F9}"/>
              </a:ext>
            </a:extLst>
          </p:cNvPr>
          <p:cNvSpPr txBox="1"/>
          <p:nvPr/>
        </p:nvSpPr>
        <p:spPr>
          <a:xfrm>
            <a:off x="0" y="4947920"/>
            <a:ext cx="8956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dirty="0"/>
              <a:t>作用：传统的注意力关注字与字之间的关系；多头注意力把字切分成多个子向量。</a:t>
            </a:r>
            <a:endParaRPr lang="en-US" altLang="zh-CN" dirty="0"/>
          </a:p>
          <a:p>
            <a:r>
              <a:rPr lang="zh-CN" altLang="en-US" dirty="0"/>
              <a:t>从而让模型可以学习到子向量之间计算相关性。</a:t>
            </a:r>
          </a:p>
        </p:txBody>
      </p:sp>
    </p:spTree>
    <p:extLst>
      <p:ext uri="{BB962C8B-B14F-4D97-AF65-F5344CB8AC3E}">
        <p14:creationId xmlns:p14="http://schemas.microsoft.com/office/powerpoint/2010/main" val="278245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EB16C61-C45C-04E0-76E2-AFF983D0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"/>
            <a:ext cx="4338320" cy="607965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CD06714-37E6-C4BD-6768-C3C577B6452C}"/>
              </a:ext>
            </a:extLst>
          </p:cNvPr>
          <p:cNvSpPr txBox="1"/>
          <p:nvPr/>
        </p:nvSpPr>
        <p:spPr>
          <a:xfrm>
            <a:off x="6462012" y="416560"/>
            <a:ext cx="2053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/>
              <a:t>Add &amp; Norm</a:t>
            </a:r>
            <a:endParaRPr lang="zh-CN" altLang="en-US" sz="28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FEC1AC-A569-9ECE-32C4-4909C327D041}"/>
              </a:ext>
            </a:extLst>
          </p:cNvPr>
          <p:cNvSpPr txBox="1"/>
          <p:nvPr/>
        </p:nvSpPr>
        <p:spPr>
          <a:xfrm>
            <a:off x="4542672" y="985520"/>
            <a:ext cx="5892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对多头自注意力机制的输出进行一个</a:t>
            </a:r>
            <a:r>
              <a:rPr lang="en-US" altLang="zh-CN" dirty="0"/>
              <a:t>dropout</a:t>
            </a:r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把</a:t>
            </a:r>
            <a:r>
              <a:rPr lang="en-US" altLang="zh-CN" dirty="0"/>
              <a:t>dropout</a:t>
            </a:r>
            <a:r>
              <a:rPr lang="zh-CN" altLang="en-US" dirty="0"/>
              <a:t>之后的结果，与没有进行自注意力机制之前的值进行残差连接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对残差连接之后的值，进行层归一化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E2ADDF-F0F7-2458-FE0C-60B636E52844}"/>
              </a:ext>
            </a:extLst>
          </p:cNvPr>
          <p:cNvSpPr txBox="1"/>
          <p:nvPr/>
        </p:nvSpPr>
        <p:spPr>
          <a:xfrm>
            <a:off x="6377693" y="2905780"/>
            <a:ext cx="2222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Feed Forward</a:t>
            </a:r>
            <a:endParaRPr lang="zh-CN" altLang="en-US" sz="2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B1BA61-3A6F-1097-169F-3095891484C3}"/>
              </a:ext>
            </a:extLst>
          </p:cNvPr>
          <p:cNvSpPr txBox="1"/>
          <p:nvPr/>
        </p:nvSpPr>
        <p:spPr>
          <a:xfrm>
            <a:off x="4542672" y="359493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对上一层输入进行一个</a:t>
            </a:r>
            <a:r>
              <a:rPr lang="en-US" altLang="zh-CN" dirty="0"/>
              <a:t>Linear</a:t>
            </a:r>
            <a:r>
              <a:rPr lang="zh-CN" altLang="en-US" dirty="0"/>
              <a:t>层，然后使用</a:t>
            </a:r>
            <a:r>
              <a:rPr lang="en-US" altLang="zh-CN" dirty="0" err="1"/>
              <a:t>relu</a:t>
            </a:r>
            <a:r>
              <a:rPr lang="zh-CN" altLang="en-US" dirty="0"/>
              <a:t>激活函数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再进行</a:t>
            </a:r>
            <a:r>
              <a:rPr lang="en-US" altLang="zh-CN" dirty="0"/>
              <a:t>dropout</a:t>
            </a:r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再送给一个</a:t>
            </a:r>
            <a:r>
              <a:rPr lang="en-US" altLang="zh-CN" dirty="0"/>
              <a:t>Linear</a:t>
            </a:r>
            <a:r>
              <a:rPr lang="zh-CN" altLang="en-US" dirty="0"/>
              <a:t>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6823A58-E808-556D-E3B3-93B5251E0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53" y="5233116"/>
            <a:ext cx="393437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7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AFF52-0351-8C1C-00A2-61B382F6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位置编码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CFC55E-DBCB-2647-39B7-49A96EA5E612}"/>
              </a:ext>
            </a:extLst>
          </p:cNvPr>
          <p:cNvSpPr txBox="1"/>
          <p:nvPr/>
        </p:nvSpPr>
        <p:spPr>
          <a:xfrm>
            <a:off x="589280" y="1849120"/>
            <a:ext cx="1149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b="1" dirty="0"/>
              <a:t>原因：</a:t>
            </a:r>
            <a:r>
              <a:rPr lang="zh-CN" altLang="en-US" dirty="0"/>
              <a:t>自注意力机制只计算了字与字之间的关系。但是却没有字与字之间的位置信息。因此我们必须把位置</a:t>
            </a:r>
            <a:endParaRPr lang="en-US" altLang="zh-CN" dirty="0"/>
          </a:p>
          <a:p>
            <a:r>
              <a:rPr lang="zh-CN" altLang="en-US" dirty="0"/>
              <a:t>信息也一同输入进网络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C0102B-E69B-2B64-C515-E2558035A015}"/>
              </a:ext>
            </a:extLst>
          </p:cNvPr>
          <p:cNvSpPr txBox="1"/>
          <p:nvPr/>
        </p:nvSpPr>
        <p:spPr>
          <a:xfrm>
            <a:off x="995680" y="2763520"/>
            <a:ext cx="544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如何选择位置编码？两种方式</a:t>
            </a:r>
            <a:r>
              <a:rPr lang="en-US" altLang="zh-CN" dirty="0"/>
              <a:t>——</a:t>
            </a:r>
            <a:r>
              <a:rPr lang="zh-CN" altLang="en-US" dirty="0"/>
              <a:t>可学习的，固定的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6A9D05-B0CE-B95A-7C3C-3108FCA04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865" y="3132852"/>
            <a:ext cx="3896269" cy="8478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ABFCCB6-FBCD-37D7-7A08-A382D6133F4A}"/>
              </a:ext>
            </a:extLst>
          </p:cNvPr>
          <p:cNvSpPr txBox="1"/>
          <p:nvPr/>
        </p:nvSpPr>
        <p:spPr>
          <a:xfrm>
            <a:off x="995680" y="4165361"/>
            <a:ext cx="8188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其中</a:t>
            </a:r>
            <a:r>
              <a:rPr lang="en-US" altLang="zh-CN" dirty="0"/>
              <a:t>pos</a:t>
            </a:r>
            <a:r>
              <a:rPr lang="zh-CN" altLang="en-US" dirty="0"/>
              <a:t>是位置，</a:t>
            </a:r>
            <a:r>
              <a:rPr lang="en-US" altLang="zh-CN" dirty="0" err="1"/>
              <a:t>i</a:t>
            </a:r>
            <a:r>
              <a:rPr lang="zh-CN" altLang="en-US" dirty="0"/>
              <a:t>是尺寸，也就是说，位置编码的每个维度对应一个正弦信号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CA9663-BC49-CF1D-A27B-5FB2D3F2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02" y="4859920"/>
            <a:ext cx="11431595" cy="7906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3F3510-00DC-4304-B426-FA8A2FBEA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287" y="2576393"/>
            <a:ext cx="3229426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6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B6C7B2A-DDCA-935D-CFA3-5CE19B10B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96269" cy="84784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DA4D468-9CAA-12F1-7FB7-D5260D751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0566"/>
            <a:ext cx="3439005" cy="44106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9BA6A61-48AB-F46A-0043-CD4333D4FFF9}"/>
              </a:ext>
            </a:extLst>
          </p:cNvPr>
          <p:cNvSpPr txBox="1"/>
          <p:nvPr/>
        </p:nvSpPr>
        <p:spPr>
          <a:xfrm>
            <a:off x="91440" y="847843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t</a:t>
            </a:r>
            <a:r>
              <a:rPr lang="zh-CN" altLang="en-US" dirty="0"/>
              <a:t>个位置表示为：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988C32-62C0-2DC8-EBE0-C326D7BF7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436" y="5579979"/>
            <a:ext cx="2781688" cy="72400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D349FE-C884-4B65-4640-306F513FE491}"/>
              </a:ext>
            </a:extLst>
          </p:cNvPr>
          <p:cNvSpPr txBox="1"/>
          <p:nvPr/>
        </p:nvSpPr>
        <p:spPr>
          <a:xfrm>
            <a:off x="196957" y="57848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其中：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6450C1B-BF72-813A-0C7C-167BE7634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505" y="0"/>
            <a:ext cx="5582429" cy="108600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B8272D3-FC0A-550B-11E6-2A26B012E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4728" y="1086002"/>
            <a:ext cx="3829584" cy="212437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4F1E8A8-6D73-9B04-9B06-824AE7C05C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505" y="3941448"/>
            <a:ext cx="4363059" cy="85737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98827FC-75DF-4020-E8F8-2D46AAD656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8938" y="3356805"/>
            <a:ext cx="4544059" cy="43821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8DE91EC-0AAB-1207-B2D1-AAD000FF7C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8938" y="4787118"/>
            <a:ext cx="6845142" cy="15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6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7807FC0-3CDE-9B9A-A4F9-AED6BCC49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45142" cy="15133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2EA3B80-1F68-3DA0-78E9-AF10A7C5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8" y="1717008"/>
            <a:ext cx="1238423" cy="4572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017034-2E22-374E-762D-3BA2F426F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29" y="2174272"/>
            <a:ext cx="6325483" cy="9907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72095F-B630-8F79-A8A4-43965E2D1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84" y="3273833"/>
            <a:ext cx="1247949" cy="4191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0EB3DDA-71F4-4876-242A-73402577F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014" y="3751322"/>
            <a:ext cx="4925112" cy="86689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15BECAD-3C68-89BA-6FAB-C7FA28BF2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8516" y="5035559"/>
            <a:ext cx="1848108" cy="876422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D371795-EB42-A8B8-675A-FD78A62CFE08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3422570" y="4618218"/>
            <a:ext cx="0" cy="4173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A156BC26-A131-372C-5DCC-B9E90AA092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987927"/>
            <a:ext cx="4267796" cy="92405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D9A2FDE-F6ED-6483-01B5-CDE72C921C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5715" y="3169414"/>
            <a:ext cx="3781665" cy="984269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2EC0947-9A1A-4A69-8F22-9CEE8D6EFE91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 flipV="1">
            <a:off x="4346624" y="5449954"/>
            <a:ext cx="1749376" cy="238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5C65AB14-0DC9-6BF2-8906-F9A826305C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8941" y="2240956"/>
            <a:ext cx="4363059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4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D25E39C-8639-6F27-BE1B-9AC292766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38320" cy="607965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227A433-CB31-3F3D-0009-588834E4D9CE}"/>
              </a:ext>
            </a:extLst>
          </p:cNvPr>
          <p:cNvSpPr txBox="1"/>
          <p:nvPr/>
        </p:nvSpPr>
        <p:spPr>
          <a:xfrm>
            <a:off x="538540" y="59849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我不是小黑子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1DD349-A9AE-E862-1EED-B2C242AA2277}"/>
              </a:ext>
            </a:extLst>
          </p:cNvPr>
          <p:cNvSpPr txBox="1"/>
          <p:nvPr/>
        </p:nvSpPr>
        <p:spPr>
          <a:xfrm>
            <a:off x="2169160" y="5984919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I'm not Blackie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4A1794-ED09-2FE0-FF4F-EF688BF432A0}"/>
              </a:ext>
            </a:extLst>
          </p:cNvPr>
          <p:cNvSpPr txBox="1"/>
          <p:nvPr/>
        </p:nvSpPr>
        <p:spPr>
          <a:xfrm>
            <a:off x="6939280" y="477520"/>
            <a:ext cx="1301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Mask</a:t>
            </a:r>
            <a:endParaRPr lang="zh-CN" altLang="en-US" sz="4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4FEAB9-A3EB-E6D3-A2E5-BF688E2B3E5F}"/>
              </a:ext>
            </a:extLst>
          </p:cNvPr>
          <p:cNvSpPr txBox="1"/>
          <p:nvPr/>
        </p:nvSpPr>
        <p:spPr>
          <a:xfrm>
            <a:off x="5687334" y="1185406"/>
            <a:ext cx="5275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编码器：会</a:t>
            </a:r>
            <a:r>
              <a:rPr lang="en-US" altLang="zh-CN" dirty="0"/>
              <a:t>mask</a:t>
            </a:r>
            <a:r>
              <a:rPr lang="zh-CN" altLang="en-US" dirty="0"/>
              <a:t>掉</a:t>
            </a:r>
            <a:r>
              <a:rPr lang="en-US" altLang="zh-CN" dirty="0"/>
              <a:t>pad</a:t>
            </a:r>
            <a:r>
              <a:rPr lang="zh-CN" altLang="en-US" dirty="0"/>
              <a:t>部分的注意力，具体操作是将</a:t>
            </a:r>
            <a:r>
              <a:rPr lang="en-US" altLang="zh-CN" dirty="0"/>
              <a:t>pad</a:t>
            </a:r>
            <a:r>
              <a:rPr lang="zh-CN" altLang="en-US" dirty="0"/>
              <a:t>部分的注意力设置为负无穷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解码器：会</a:t>
            </a:r>
            <a:r>
              <a:rPr lang="en-US" altLang="zh-CN" dirty="0"/>
              <a:t>mask</a:t>
            </a:r>
            <a:r>
              <a:rPr lang="zh-CN" altLang="en-US" dirty="0"/>
              <a:t>掉</a:t>
            </a:r>
            <a:r>
              <a:rPr lang="en-US" altLang="zh-CN" dirty="0"/>
              <a:t>pad</a:t>
            </a:r>
            <a:r>
              <a:rPr lang="zh-CN" altLang="en-US" dirty="0"/>
              <a:t>的部分。同时把词语右边的注意力也</a:t>
            </a:r>
            <a:r>
              <a:rPr lang="en-US" altLang="zh-CN" dirty="0"/>
              <a:t>mask</a:t>
            </a:r>
            <a:r>
              <a:rPr lang="zh-CN" altLang="en-US" dirty="0"/>
              <a:t>掉。因为正常情况下我们预测句子的时候是看不到后面的字，要一个一个的预测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848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396</Words>
  <Application>Microsoft Office PowerPoint</Application>
  <PresentationFormat>宽屏</PresentationFormat>
  <Paragraphs>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Lucida Grande</vt:lpstr>
      <vt:lpstr>Calibri</vt:lpstr>
      <vt:lpstr>Calibri Light</vt:lpstr>
      <vt:lpstr>Wingdings</vt:lpstr>
      <vt:lpstr>回顾</vt:lpstr>
      <vt:lpstr>Attention Is All You Need</vt:lpstr>
      <vt:lpstr>Transformer</vt:lpstr>
      <vt:lpstr>网络架构</vt:lpstr>
      <vt:lpstr>注意力机制</vt:lpstr>
      <vt:lpstr>PowerPoint 演示文稿</vt:lpstr>
      <vt:lpstr>多头自注意力机制</vt:lpstr>
      <vt:lpstr>PowerPoint 演示文稿</vt:lpstr>
      <vt:lpstr>PowerPoint 演示文稿</vt:lpstr>
      <vt:lpstr>位置编码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2026-02-11T04:05:49Z</dcterms:created>
  <dcterms:modified xsi:type="dcterms:W3CDTF">2026-02-11T04:05:54Z</dcterms:modified>
</cp:coreProperties>
</file>